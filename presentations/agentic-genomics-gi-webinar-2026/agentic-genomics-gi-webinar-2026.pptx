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awbio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561" y="502920"/>
            <a:ext cx="1046572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701387" y="1627632"/>
            <a:ext cx="2788920" cy="3108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0D1117"/>
                </a:solidFill>
                <a:latin typeface="Arial"/>
              </a:rPr>
              <a:t>CLAWBIO × GENOMIC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110944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E6EDF3"/>
                </a:solidFill>
                <a:latin typeface="Arial"/>
              </a:rPr>
              <a:t>Agentic Genomics in </a:t>
            </a:r>
            <a:r>
              <a:rPr sz="4200" b="1">
                <a:solidFill>
                  <a:srgbClr val="56D364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46120"/>
            <a:ext cx="8899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ADBAC7"/>
                </a:solidFill>
                <a:latin typeface="Arial"/>
              </a:rPr>
              <a:t>AI agents are starting to do real genomics work end to end. The hard part is no longer writing the code. It is trusting the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109441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58A6FF"/>
                </a:solidFill>
                <a:latin typeface="Arial"/>
              </a:rPr>
              <a:t>Manuel Corpas</a:t>
            </a:r>
          </a:p>
          <a:p>
            <a:pPr algn="ctr"/>
            <a:r>
              <a:rPr sz="1250" b="0">
                <a:solidFill>
                  <a:srgbClr val="6E7681"/>
                </a:solidFill>
                <a:latin typeface="Arial"/>
              </a:rPr>
              <a:t>Senior Lecturer in Genomics, AI, and Data Science  ·  University of Westminster</a:t>
            </a:r>
          </a:p>
          <a:p>
            <a:pPr algn="ctr"/>
            <a:r>
              <a:rPr sz="1250" b="0">
                <a:solidFill>
                  <a:srgbClr val="6E7681"/>
                </a:solidFill>
                <a:latin typeface="Arial"/>
              </a:rPr>
              <a:t>Founder, ClawBio</a:t>
            </a:r>
          </a:p>
          <a:p>
            <a:pPr algn="ctr"/>
            <a:r>
              <a:rPr sz="1250" b="0">
                <a:solidFill>
                  <a:srgbClr val="6E7681"/>
                </a:solidFill>
                <a:latin typeface="Arial"/>
              </a:rPr>
              <a:t>Webinar  ·  ClawBio × Genomic Intelligence  ·  24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55767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0D1117"/>
                </a:solidFill>
                <a:latin typeface="Arial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6EDF3"/>
                </a:solidFill>
                <a:latin typeface="Arial"/>
              </a:rPr>
              <a:t>What we will cover in the next 90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74519"/>
            <a:ext cx="10177272" cy="841248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350" b="1">
                <a:solidFill>
                  <a:srgbClr val="58A6FF"/>
                </a:solidFill>
                <a:latin typeface="Arial"/>
              </a:rPr>
              <a:t>Manuel (ClawBio)   </a:t>
            </a:r>
            <a:r>
              <a:rPr sz="1350" b="0">
                <a:solidFill>
                  <a:srgbClr val="ADBAC7"/>
                </a:solidFill>
                <a:latin typeface="Arial"/>
              </a:rPr>
              <a:t>State of the art in agentic genomics: what changed, why trust is the bottleneck, and concrete examples with ClawBio skills.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825496"/>
            <a:ext cx="10177272" cy="841248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350" b="1">
                <a:solidFill>
                  <a:srgbClr val="D2A8FF"/>
                </a:solidFill>
                <a:latin typeface="Arial"/>
              </a:rPr>
              <a:t>Benjamin (GI)   </a:t>
            </a:r>
            <a:r>
              <a:rPr sz="1350" b="0">
                <a:solidFill>
                  <a:srgbClr val="ADBAC7"/>
                </a:solidFill>
                <a:latin typeface="Arial"/>
              </a:rPr>
              <a:t>What the Genomic Intelligence models are and where they fit in a genomics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776472"/>
            <a:ext cx="10177272" cy="841248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350" b="1">
                <a:solidFill>
                  <a:srgbClr val="D2A8FF"/>
                </a:solidFill>
                <a:latin typeface="Arial"/>
              </a:rPr>
              <a:t>Benjamin (GI)   </a:t>
            </a:r>
            <a:r>
              <a:rPr sz="1350" b="0">
                <a:solidFill>
                  <a:srgbClr val="ADBAC7"/>
                </a:solidFill>
                <a:latin typeface="Arial"/>
              </a:rPr>
              <a:t>Live scenarios: using GI skills inside ClawBio to solve real bioinformatics problems, in Codex and on the web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727448"/>
            <a:ext cx="10177272" cy="841248"/>
          </a:xfrm>
          <a:prstGeom prst="roundRect">
            <a:avLst>
              <a:gd name="adj" fmla="val 12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350" b="1">
                <a:solidFill>
                  <a:srgbClr val="58A6FF"/>
                </a:solidFill>
                <a:latin typeface="Arial"/>
              </a:rPr>
              <a:t>Everyone   </a:t>
            </a:r>
            <a:r>
              <a:rPr sz="1350" b="0">
                <a:solidFill>
                  <a:srgbClr val="ADBAC7"/>
                </a:solidFill>
                <a:latin typeface="Arial"/>
              </a:rPr>
              <a:t>Q&amp;A, and an open call: build your own use case with the platform over the next two weeks.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724144"/>
            <a:ext cx="101772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6E7681"/>
                </a:solidFill>
                <a:latin typeface="Arial"/>
              </a:rPr>
              <a:t>For bioinformaticians, computational biologists, genomics researchers, and anyone building with AI agents in the life sciences.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55767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0D1117"/>
                </a:solidFill>
                <a:latin typeface="Arial"/>
              </a:rPr>
              <a:t>THE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6EDF3"/>
                </a:solidFill>
                <a:latin typeface="Arial"/>
              </a:rPr>
              <a:t>Two Waves of LLMs in Biology</a:t>
            </a:r>
          </a:p>
        </p:txBody>
      </p:sp>
      <p:pic>
        <p:nvPicPr>
          <p:cNvPr id="4" name="Picture 3" descr="diagram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62" y="1783080"/>
            <a:ext cx="10550769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3383280"/>
            <a:ext cx="52120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ADBAC7"/>
                </a:solidFill>
                <a:latin typeface="Arial"/>
              </a:rPr>
              <a:t>First wave: information retrieval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8A6FF"/>
                </a:solidFill>
                <a:latin typeface="Arial"/>
              </a:rPr>
              <a:t>→  </a:t>
            </a:r>
            <a:r>
              <a:rPr sz="1450" b="0">
                <a:solidFill>
                  <a:srgbClr val="E6EDF3"/>
                </a:solidFill>
                <a:latin typeface="Arial"/>
              </a:rPr>
              <a:t>Summarising papers, answering pathway questions, extracting structured data from text.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8A6FF"/>
                </a:solidFill>
                <a:latin typeface="Arial"/>
              </a:rPr>
              <a:t>→  </a:t>
            </a:r>
            <a:r>
              <a:rPr sz="1450" b="0">
                <a:solidFill>
                  <a:srgbClr val="6E7681"/>
                </a:solidFill>
                <a:latin typeface="Arial"/>
              </a:rPr>
              <a:t>Useful but incremental.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3383280"/>
            <a:ext cx="52120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56D364"/>
                </a:solidFill>
                <a:latin typeface="Arial"/>
              </a:rPr>
              <a:t>Second wave: autonomous execution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8A6FF"/>
                </a:solidFill>
                <a:latin typeface="Arial"/>
              </a:rPr>
              <a:t>→  </a:t>
            </a:r>
            <a:r>
              <a:rPr sz="1450" b="0">
                <a:solidFill>
                  <a:srgbClr val="E6EDF3"/>
                </a:solidFill>
                <a:latin typeface="Arial"/>
              </a:rPr>
              <a:t>Modern LLMs can write, debug, and execute code.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8A6FF"/>
                </a:solidFill>
                <a:latin typeface="Arial"/>
              </a:rPr>
              <a:t>→  </a:t>
            </a:r>
            <a:r>
              <a:rPr sz="1450" b="0">
                <a:solidFill>
                  <a:srgbClr val="E6EDF3"/>
                </a:solidFill>
                <a:latin typeface="Arial"/>
              </a:rPr>
              <a:t>Connected to file systems, databases, and command-line tools, they plan multi-step analyses and adapt on intermediate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55767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0D1117"/>
                </a:solidFill>
                <a:latin typeface="Arial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6EDF3"/>
                </a:solidFill>
                <a:latin typeface="Arial"/>
              </a:rPr>
              <a:t>Defining </a:t>
            </a:r>
            <a:r>
              <a:rPr sz="2800" b="1">
                <a:solidFill>
                  <a:srgbClr val="56D364"/>
                </a:solidFill>
                <a:latin typeface="Arial"/>
              </a:rPr>
              <a:t>Agentic Genomics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91640"/>
            <a:ext cx="963137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6EDF3"/>
                </a:solidFill>
                <a:latin typeface="Arial"/>
              </a:rPr>
              <a:t>An AI agent that plans and executes a genomic analysis end to end: it reads the data, chooses the tools, runs them, inspects intermediate results, and revises its own plan, with a human evaluating rather than typing every command.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447" y="292608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58A6FF"/>
                </a:solidFill>
                <a:latin typeface="Arial"/>
              </a:rPr>
              <a:t>Senses</a:t>
            </a:r>
          </a:p>
          <a:p>
            <a:pPr algn="l"/>
            <a:r>
              <a:rPr sz="1250" b="0">
                <a:solidFill>
                  <a:srgbClr val="ADBAC7"/>
                </a:solidFill>
                <a:latin typeface="Arial"/>
              </a:rPr>
              <a:t>Reads VCFs, FASTQs, manifests, guidelines, and prior outputs as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4207" y="292608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58A6FF"/>
                </a:solidFill>
                <a:latin typeface="Arial"/>
              </a:rPr>
              <a:t>Acts</a:t>
            </a:r>
          </a:p>
          <a:p>
            <a:pPr algn="l"/>
            <a:r>
              <a:rPr sz="1250" b="0">
                <a:solidFill>
                  <a:srgbClr val="ADBAC7"/>
                </a:solidFill>
                <a:latin typeface="Arial"/>
              </a:rPr>
              <a:t>Invokes real tools: aligners, variant callers, annotation and reporting skills.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8967" y="292608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58A6FF"/>
                </a:solidFill>
                <a:latin typeface="Arial"/>
              </a:rPr>
              <a:t>Adapts</a:t>
            </a:r>
          </a:p>
          <a:p>
            <a:pPr algn="l"/>
            <a:r>
              <a:rPr sz="1250" b="0">
                <a:solidFill>
                  <a:srgbClr val="ADBAC7"/>
                </a:solidFill>
                <a:latin typeface="Arial"/>
              </a:rPr>
              <a:t>Checks intermediate results and re-plans, instead of running a fixed script.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6E7681"/>
                </a:solidFill>
                <a:latin typeface="Arial"/>
              </a:rPr>
              <a:t>Grounded in the Corpas, Fatumo &amp; Guio Perspective on agentic genomics, and a Briefings in Bioinformatics benchmark of frontier LLMs in pharmacogenomics.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67731" y="411480"/>
            <a:ext cx="1856232" cy="3108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0D1117"/>
                </a:solidFill>
                <a:latin typeface="Arial"/>
              </a:rPr>
              <a:t>THE PARADIGM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E6EDF3"/>
                </a:solidFill>
                <a:latin typeface="Arial"/>
              </a:rPr>
              <a:t>The work moves from </a:t>
            </a:r>
            <a:r>
              <a:rPr sz="2700" b="1">
                <a:solidFill>
                  <a:srgbClr val="58A6FF"/>
                </a:solidFill>
                <a:latin typeface="Arial"/>
              </a:rPr>
              <a:t>code production</a:t>
            </a:r>
            <a:r>
              <a:rPr sz="2700" b="1">
                <a:solidFill>
                  <a:srgbClr val="E6EDF3"/>
                </a:solidFill>
                <a:latin typeface="Arial"/>
              </a:rPr>
              <a:t> to </a:t>
            </a:r>
            <a:r>
              <a:rPr sz="2700" b="1">
                <a:solidFill>
                  <a:srgbClr val="56D364"/>
                </a:solidFill>
                <a:latin typeface="Arial"/>
              </a:rPr>
              <a:t>validation</a:t>
            </a:r>
          </a:p>
        </p:txBody>
      </p:sp>
      <p:pic>
        <p:nvPicPr>
          <p:cNvPr id="4" name="Picture 3" descr="diagram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847" y="1783080"/>
            <a:ext cx="101600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43600"/>
            <a:ext cx="107286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Arial"/>
              </a:rPr>
              <a:t>Generating the analysis is no longer the hard part. </a:t>
            </a:r>
            <a:r>
              <a:rPr sz="1700" b="0">
                <a:solidFill>
                  <a:srgbClr val="56D364"/>
                </a:solidFill>
                <a:latin typeface="Arial"/>
              </a:rPr>
              <a:t>Knowing you can trust it</a:t>
            </a:r>
            <a:r>
              <a:rPr sz="1700" b="0">
                <a:solidFill>
                  <a:srgbClr val="E6EDF3"/>
                </a:solidFill>
                <a:latin typeface="Arial"/>
              </a:rPr>
              <a:t> 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67731" y="411480"/>
            <a:ext cx="1856232" cy="3108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0D1117"/>
                </a:solidFill>
                <a:latin typeface="Arial"/>
              </a:rPr>
              <a:t>THE NEW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E6EDF3"/>
                </a:solidFill>
                <a:latin typeface="Arial"/>
              </a:rPr>
              <a:t>The Validation Bottleneck: </a:t>
            </a:r>
            <a:r>
              <a:rPr sz="2600" b="1">
                <a:solidFill>
                  <a:srgbClr val="FFA198"/>
                </a:solidFill>
                <a:latin typeface="Arial"/>
              </a:rPr>
              <a:t>silent, plausible-looking failure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447" y="1691640"/>
            <a:ext cx="338328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A198"/>
                </a:solidFill>
                <a:latin typeface="Arial"/>
              </a:rPr>
              <a:t>Plausible</a:t>
            </a:r>
          </a:p>
          <a:p>
            <a:pPr algn="l"/>
            <a:r>
              <a:rPr sz="1250" b="0">
                <a:solidFill>
                  <a:srgbClr val="ADBAC7"/>
                </a:solidFill>
                <a:latin typeface="Arial"/>
              </a:rPr>
              <a:t>The output is formatted correctly, reads fluently, and matches what a reviewer expects to see.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4207" y="1691640"/>
            <a:ext cx="338328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E3B341"/>
                </a:solidFill>
                <a:latin typeface="Arial"/>
              </a:rPr>
              <a:t>Confident</a:t>
            </a:r>
          </a:p>
          <a:p>
            <a:pPr algn="l"/>
            <a:r>
              <a:rPr sz="1250" b="0">
                <a:solidFill>
                  <a:srgbClr val="ADBAC7"/>
                </a:solidFill>
                <a:latin typeface="Arial"/>
              </a:rPr>
              <a:t>The agent states a wrong answer with the same tone as a right one. No flag, no uncertainty.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98967" y="1691640"/>
            <a:ext cx="3383280" cy="1463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58A6FF"/>
                </a:solidFill>
                <a:latin typeface="Arial"/>
              </a:rPr>
              <a:t>Consequential</a:t>
            </a:r>
          </a:p>
          <a:p>
            <a:pPr algn="l"/>
            <a:r>
              <a:rPr sz="1250" b="0">
                <a:solidFill>
                  <a:srgbClr val="ADBAC7"/>
                </a:solidFill>
                <a:latin typeface="Arial"/>
              </a:rPr>
              <a:t>In genomics the failure mode is a missed cancer gene or a wrong dose, not a 404. And it scales.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383280"/>
            <a:ext cx="10177272" cy="16916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FA1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E6EDF3"/>
                </a:solidFill>
                <a:latin typeface="Arial"/>
              </a:rPr>
              <a:t>A healthy 32-year-old's exome is screened. The agent calls a pathogenic </a:t>
            </a:r>
            <a:r>
              <a:rPr sz="1450" b="0">
                <a:solidFill>
                  <a:srgbClr val="FFA198"/>
                </a:solidFill>
                <a:latin typeface="Arial"/>
              </a:rPr>
              <a:t>BRCA1</a:t>
            </a:r>
            <a:r>
              <a:rPr sz="1450" b="0">
                <a:solidFill>
                  <a:srgbClr val="E6EDF3"/>
                </a:solidFill>
                <a:latin typeface="Arial"/>
              </a:rPr>
              <a:t> frameshift </a:t>
            </a:r>
            <a:r>
              <a:rPr sz="1450" b="0">
                <a:solidFill>
                  <a:srgbClr val="ADBAC7"/>
                </a:solidFill>
                <a:latin typeface="Arial"/>
              </a:rPr>
              <a:t>“likely benign”</a:t>
            </a:r>
            <a:r>
              <a:rPr sz="1450" b="0">
                <a:solidFill>
                  <a:srgbClr val="E6EDF3"/>
                </a:solidFill>
                <a:latin typeface="Arial"/>
              </a:rPr>
              <a:t>, with a clean report, a citation, and </a:t>
            </a:r>
            <a:r>
              <a:rPr sz="1450" b="0">
                <a:solidFill>
                  <a:srgbClr val="FFA198"/>
                </a:solidFill>
                <a:latin typeface="Arial"/>
              </a:rPr>
              <a:t>no flag raised</a:t>
            </a:r>
            <a:r>
              <a:rPr sz="1450" b="0">
                <a:solidFill>
                  <a:srgbClr val="E6EDF3"/>
                </a:solidFill>
                <a:latin typeface="Arial"/>
              </a:rPr>
              <a:t>. She is never offered screening or risk-reducing surgery. The first sign is </a:t>
            </a:r>
            <a:r>
              <a:rPr sz="1450" b="0">
                <a:solidFill>
                  <a:srgbClr val="FFA198"/>
                </a:solidFill>
                <a:latin typeface="Arial"/>
              </a:rPr>
              <a:t>stage IV cancer</a:t>
            </a:r>
            <a:r>
              <a:rPr sz="1450" b="0">
                <a:solidFill>
                  <a:srgbClr val="E6EDF3"/>
                </a:solidFill>
                <a:latin typeface="Arial"/>
              </a:rPr>
              <a:t>.</a:t>
            </a:r>
          </a:p>
          <a:p>
            <a:pPr algn="l"/>
            <a:r>
              <a:rPr sz="1450" b="0">
                <a:solidFill>
                  <a:srgbClr val="E6EDF3"/>
                </a:solidFill>
                <a:latin typeface="Arial"/>
              </a:rPr>
              <a:t>Nothing crashed. Now run that same pipeline across </a:t>
            </a:r>
            <a:r>
              <a:rPr sz="1450" b="0">
                <a:solidFill>
                  <a:srgbClr val="FFA198"/>
                </a:solidFill>
                <a:latin typeface="Arial"/>
              </a:rPr>
              <a:t>10,000 genomes overnight</a:t>
            </a:r>
            <a:r>
              <a:rPr sz="1450" b="0">
                <a:solidFill>
                  <a:srgbClr val="E6EDF3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57800"/>
            <a:ext cx="107286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E6EDF3"/>
                </a:solidFill>
                <a:latin typeface="Arial"/>
              </a:rPr>
              <a:t>A confident, plausible, wrong answer is worse than no answer. </a:t>
            </a:r>
            <a:r>
              <a:rPr sz="1500" b="0">
                <a:solidFill>
                  <a:srgbClr val="56D364"/>
                </a:solidFill>
                <a:latin typeface="Arial"/>
              </a:rPr>
              <a:t>Safe uncertainty beats confident hallucination.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E6EDF3"/>
                </a:solidFill>
                <a:latin typeface="Arial"/>
              </a:rPr>
              <a:t>Claw</a:t>
            </a:r>
            <a:r>
              <a:rPr sz="4000" b="1">
                <a:solidFill>
                  <a:srgbClr val="56D364"/>
                </a:solidFill>
                <a:latin typeface="Arial"/>
              </a:rPr>
              <a:t>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ADBAC7"/>
                </a:solidFill>
                <a:latin typeface="Arial"/>
              </a:rPr>
              <a:t>An open, agent-native skill library for bioinformatics.</a:t>
            </a:r>
          </a:p>
          <a:p>
            <a:pPr algn="ctr"/>
            <a:r>
              <a:rPr sz="1200" b="0">
                <a:solidFill>
                  <a:srgbClr val="6E7681"/>
                </a:solidFill>
                <a:latin typeface="Arial"/>
              </a:rPr>
              <a:t>Open-source  ·  local-first  ·  reproducible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487" y="2148840"/>
            <a:ext cx="2377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56D364"/>
                </a:solidFill>
                <a:latin typeface="Arial"/>
              </a:rPr>
              <a:t>993</a:t>
            </a:r>
          </a:p>
          <a:p>
            <a:pPr algn="ctr"/>
            <a:r>
              <a:rPr sz="1200" b="0">
                <a:solidFill>
                  <a:srgbClr val="ADBAC7"/>
                </a:solidFill>
                <a:latin typeface="Arial"/>
              </a:rPr>
              <a:t>GitHub stars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1247" y="2148840"/>
            <a:ext cx="2377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56D364"/>
                </a:solidFill>
                <a:latin typeface="Arial"/>
              </a:rPr>
              <a:t>90</a:t>
            </a:r>
          </a:p>
          <a:p>
            <a:pPr algn="ctr"/>
            <a:r>
              <a:rPr sz="1200" b="0">
                <a:solidFill>
                  <a:srgbClr val="ADBAC7"/>
                </a:solidFill>
                <a:latin typeface="Arial"/>
              </a:rPr>
              <a:t>open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2148840"/>
            <a:ext cx="2377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56D364"/>
                </a:solidFill>
                <a:latin typeface="Arial"/>
              </a:rPr>
              <a:t>48</a:t>
            </a:r>
          </a:p>
          <a:p>
            <a:pPr algn="ctr"/>
            <a:r>
              <a:rPr sz="1200" b="0">
                <a:solidFill>
                  <a:srgbClr val="ADBAC7"/>
                </a:solidFill>
                <a:latin typeface="Arial"/>
              </a:rPr>
              <a:t>contributors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4767" y="2148840"/>
            <a:ext cx="2377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56D364"/>
                </a:solidFill>
                <a:latin typeface="Arial"/>
              </a:rPr>
              <a:t>218</a:t>
            </a:r>
          </a:p>
          <a:p>
            <a:pPr algn="ctr"/>
            <a:r>
              <a:rPr sz="1200" b="0">
                <a:solidFill>
                  <a:srgbClr val="ADBAC7"/>
                </a:solidFill>
                <a:latin typeface="Arial"/>
              </a:rPr>
              <a:t>forks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E7681"/>
                </a:solidFill>
                <a:latin typeface="Arial"/>
              </a:rPr>
              <a:t>From a standing start in February 2026. Nearly </a:t>
            </a:r>
            <a:r>
              <a:rPr sz="1200" b="0">
                <a:solidFill>
                  <a:srgbClr val="56D364"/>
                </a:solidFill>
                <a:latin typeface="Arial"/>
              </a:rPr>
              <a:t>1,000 stars in four months</a:t>
            </a:r>
            <a:r>
              <a:rPr sz="1200" b="0">
                <a:solidFill>
                  <a:srgbClr val="6E7681"/>
                </a:solidFill>
                <a:latin typeface="Arial"/>
              </a:rPr>
              <a:t>, heading for 5,000.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447" y="361188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58A6FF"/>
                </a:solidFill>
                <a:latin typeface="Arial"/>
              </a:rPr>
              <a:t>A skill is a contract</a:t>
            </a:r>
          </a:p>
          <a:p>
            <a:pPr algn="l"/>
            <a:r>
              <a:rPr sz="1250" b="0">
                <a:solidFill>
                  <a:srgbClr val="ADBAC7"/>
                </a:solidFill>
                <a:latin typeface="Arial"/>
              </a:rPr>
              <a:t>Each skill is a plain-text SKILL.md plus code: what it does, what it needs, and the steps the agent must follow.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207" y="361188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58A6FF"/>
                </a:solidFill>
                <a:latin typeface="Arial"/>
              </a:rPr>
              <a:t>The connecting layer</a:t>
            </a:r>
          </a:p>
          <a:p>
            <a:pPr algn="l"/>
            <a:r>
              <a:rPr sz="1250" b="0">
                <a:solidFill>
                  <a:srgbClr val="ADBAC7"/>
                </a:solidFill>
                <a:latin typeface="Arial"/>
              </a:rPr>
              <a:t>ClawBio links AI agents to genomic databases, clinical knowledge, and validation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8967" y="361188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58A6FF"/>
                </a:solidFill>
                <a:latin typeface="Arial"/>
              </a:rPr>
              <a:t>Open and shared</a:t>
            </a:r>
          </a:p>
          <a:p>
            <a:pPr algn="l"/>
            <a:r>
              <a:rPr sz="1250" b="0">
                <a:solidFill>
                  <a:srgbClr val="ADBAC7"/>
                </a:solidFill>
                <a:latin typeface="Arial"/>
              </a:rPr>
              <a:t>Anyone can write, audit, and reuse skills. The aim: a trust layer for agentic genomics.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6D364"/>
                </a:solidFill>
                <a:latin typeface="Arial"/>
              </a:rPr>
              <a:t>github.com/ClawBio/ClawBio  ·  </a:t>
            </a:r>
            <a:r>
              <a:rPr sz="1200" b="0">
                <a:solidFill>
                  <a:srgbClr val="6E7681"/>
                </a:solidFill>
                <a:latin typeface="Arial"/>
              </a:rPr>
              <a:t>today, Genomic Intelligence's models run as skills inside this library.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67731" y="411480"/>
            <a:ext cx="1856232" cy="3108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0D1117"/>
                </a:solidFill>
                <a:latin typeface="Arial"/>
              </a:rPr>
              <a:t>EMPIRICAL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E6EDF3"/>
                </a:solidFill>
                <a:latin typeface="Arial"/>
              </a:rPr>
              <a:t>Can a plain-text SKILL.md reach </a:t>
            </a:r>
            <a:r>
              <a:rPr sz="2700" b="1">
                <a:solidFill>
                  <a:srgbClr val="56D364"/>
                </a:solidFill>
                <a:latin typeface="Arial"/>
              </a:rPr>
              <a:t>clinical-grade</a:t>
            </a:r>
            <a:r>
              <a:rPr sz="2700" b="1">
                <a:solidFill>
                  <a:srgbClr val="E6EDF3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737360"/>
            <a:ext cx="96313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E6EDF3"/>
                </a:solidFill>
                <a:latin typeface="Arial"/>
              </a:rPr>
              <a:t>Pharmacogenomics, ground truth from CPIC guidelines, </a:t>
            </a:r>
            <a:r>
              <a:rPr sz="1500" b="0">
                <a:solidFill>
                  <a:srgbClr val="56D364"/>
                </a:solidFill>
                <a:latin typeface="Arial"/>
              </a:rPr>
              <a:t>44,550 scored evaluations</a:t>
            </a:r>
            <a:r>
              <a:rPr sz="1500" b="0">
                <a:solidFill>
                  <a:srgbClr val="E6EDF3"/>
                </a:solidFill>
                <a:latin typeface="Arial"/>
              </a:rPr>
              <a:t> across frontier models and three conditions: free prompt, the skill's reasoning, and executing the skill.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207" y="301752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A198"/>
                </a:solidFill>
                <a:latin typeface="Arial"/>
              </a:rPr>
              <a:t>80.6%</a:t>
            </a:r>
          </a:p>
          <a:p>
            <a:pPr algn="ctr"/>
            <a:r>
              <a:rPr sz="1200" b="0">
                <a:solidFill>
                  <a:srgbClr val="ADBAC7"/>
                </a:solidFill>
                <a:latin typeface="Arial"/>
              </a:rPr>
              <a:t>Free prompt</a:t>
            </a:r>
          </a:p>
          <a:p>
            <a:pPr algn="ctr"/>
            <a:r>
              <a:rPr sz="1050" b="0">
                <a:solidFill>
                  <a:srgbClr val="6E7681"/>
                </a:solidFill>
                <a:latin typeface="Arial"/>
              </a:rPr>
              <a:t>(no specification)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41367" y="301752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E3B341"/>
                </a:solidFill>
                <a:latin typeface="Arial"/>
              </a:rPr>
              <a:t>95.5%</a:t>
            </a:r>
          </a:p>
          <a:p>
            <a:pPr algn="ctr"/>
            <a:r>
              <a:rPr sz="1200" b="0">
                <a:solidFill>
                  <a:srgbClr val="ADBAC7"/>
                </a:solidFill>
                <a:latin typeface="Arial"/>
              </a:rPr>
              <a:t>Skill reasoning</a:t>
            </a:r>
          </a:p>
          <a:p>
            <a:pPr algn="ctr"/>
            <a:r>
              <a:rPr sz="1050" b="0">
                <a:solidFill>
                  <a:srgbClr val="6E7681"/>
                </a:solidFill>
                <a:latin typeface="Arial"/>
              </a:rPr>
              <a:t>(guideline loaded)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7527" y="301752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56D364"/>
                </a:solidFill>
                <a:latin typeface="Arial"/>
              </a:rPr>
              <a:t>100%</a:t>
            </a:r>
          </a:p>
          <a:p>
            <a:pPr algn="ctr"/>
            <a:r>
              <a:rPr sz="1200" b="0">
                <a:solidFill>
                  <a:srgbClr val="ADBAC7"/>
                </a:solidFill>
                <a:latin typeface="Arial"/>
              </a:rPr>
              <a:t>Skill execution</a:t>
            </a:r>
          </a:p>
          <a:p>
            <a:pPr algn="ctr"/>
            <a:r>
              <a:rPr sz="1050" b="0">
                <a:solidFill>
                  <a:srgbClr val="6E7681"/>
                </a:solidFill>
                <a:latin typeface="Arial"/>
              </a:rPr>
              <a:t>(deterministic)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7286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Arial"/>
              </a:rPr>
              <a:t>Accuracy climbs as correctness is </a:t>
            </a:r>
            <a:r>
              <a:rPr sz="1700" b="0">
                <a:solidFill>
                  <a:srgbClr val="56D364"/>
                </a:solidFill>
                <a:latin typeface="Arial"/>
              </a:rPr>
              <a:t>constrained by architecture</a:t>
            </a:r>
            <a:r>
              <a:rPr sz="1700" b="0">
                <a:solidFill>
                  <a:srgbClr val="E6EDF3"/>
                </a:solidFill>
                <a:latin typeface="Arial"/>
              </a:rPr>
              <a:t>, not by asking the model more nicely.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17973" y="411480"/>
            <a:ext cx="2555748" cy="3108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0D1117"/>
                </a:solidFill>
                <a:latin typeface="Arial"/>
              </a:rPr>
              <a:t>THE COUNTERINTUITIVE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E6EDF3"/>
                </a:solidFill>
                <a:latin typeface="Arial"/>
              </a:rPr>
              <a:t>Giving the model the right guideline made it </a:t>
            </a:r>
            <a:r>
              <a:rPr sz="2500" b="1">
                <a:solidFill>
                  <a:srgbClr val="FFA198"/>
                </a:solidFill>
                <a:latin typeface="Arial"/>
              </a:rPr>
              <a:t>more dangerous</a:t>
            </a:r>
          </a:p>
        </p:txBody>
      </p:sp>
      <p:pic>
        <p:nvPicPr>
          <p:cNvPr id="4" name="Picture 3" descr="diagram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828800"/>
            <a:ext cx="10607040" cy="31821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669280"/>
            <a:ext cx="107286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E6EDF3"/>
                </a:solidFill>
                <a:latin typeface="Arial"/>
              </a:rPr>
              <a:t>Trust is </a:t>
            </a:r>
            <a:r>
              <a:rPr sz="1500" b="0">
                <a:solidFill>
                  <a:srgbClr val="56D364"/>
                </a:solidFill>
                <a:latin typeface="Arial"/>
              </a:rPr>
              <a:t>architectural</a:t>
            </a:r>
            <a:r>
              <a:rPr sz="1500" b="0">
                <a:solidFill>
                  <a:srgbClr val="E6EDF3"/>
                </a:solidFill>
                <a:latin typeface="Arial"/>
              </a:rPr>
              <a:t>: it comes from deterministic, auditable, model-invariant execution, not from a better prompt.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8869" y="411480"/>
            <a:ext cx="1933956" cy="3108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0D1117"/>
                </a:solidFill>
                <a:latin typeface="Arial"/>
              </a:rPr>
              <a:t>AND IT IS NOT EQUAL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E6EDF3"/>
                </a:solidFill>
                <a:latin typeface="Arial"/>
              </a:rPr>
              <a:t>On real genomes, accuracy </a:t>
            </a:r>
            <a:r>
              <a:rPr sz="2700" b="1">
                <a:solidFill>
                  <a:srgbClr val="FFA198"/>
                </a:solidFill>
                <a:latin typeface="Arial"/>
              </a:rPr>
              <a:t>falls by ancestry</a:t>
            </a:r>
          </a:p>
        </p:txBody>
      </p:sp>
      <p:pic>
        <p:nvPicPr>
          <p:cNvPr id="4" name="Picture 3" descr="diagram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847" y="1783080"/>
            <a:ext cx="9905999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15000"/>
            <a:ext cx="107286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E6EDF3"/>
                </a:solidFill>
                <a:latin typeface="Arial"/>
              </a:rPr>
              <a:t>Curated ~96% </a:t>
            </a:r>
            <a:r>
              <a:rPr sz="1400" b="0">
                <a:solidFill>
                  <a:srgbClr val="FFA198"/>
                </a:solidFill>
                <a:latin typeface="Arial"/>
              </a:rPr>
              <a:t>does not transfer</a:t>
            </a:r>
            <a:r>
              <a:rPr sz="1400" b="0">
                <a:solidFill>
                  <a:srgbClr val="E6EDF3"/>
                </a:solidFill>
                <a:latin typeface="Arial"/>
              </a:rPr>
              <a:t> to real diplotypes from over 7,000 individuals. </a:t>
            </a:r>
            <a:r>
              <a:rPr sz="1400" b="0">
                <a:solidFill>
                  <a:srgbClr val="56D364"/>
                </a:solidFill>
                <a:latin typeface="Arial"/>
              </a:rPr>
              <a:t>Executing the skill removes the gradient.</a:t>
            </a:r>
            <a:r>
              <a:rPr sz="1400" b="0">
                <a:solidFill>
                  <a:srgbClr val="E6EDF3"/>
                </a:solidFill>
                <a:latin typeface="Arial"/>
              </a:rPr>
              <a:t> Validation is also an equity problem.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79111" y="411480"/>
            <a:ext cx="2633472" cy="310896"/>
          </a:xfrm>
          <a:prstGeom prst="roundRect">
            <a:avLst>
              <a:gd name="adj" fmla="val 50000"/>
            </a:avLst>
          </a:prstGeom>
          <a:solidFill>
            <a:srgbClr val="D2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0D1117"/>
                </a:solidFill>
                <a:latin typeface="Arial"/>
              </a:rPr>
              <a:t>OVER TO GENOMIC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6EDF3"/>
                </a:solidFill>
                <a:latin typeface="Arial"/>
              </a:rPr>
              <a:t>From the framing to the </a:t>
            </a:r>
            <a:r>
              <a:rPr sz="2800" b="1">
                <a:solidFill>
                  <a:srgbClr val="56D364"/>
                </a:solidFill>
                <a:latin typeface="Arial"/>
              </a:rPr>
              <a:t>live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2120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D2A8FF"/>
                </a:solidFill>
                <a:latin typeface="Arial"/>
              </a:rPr>
              <a:t>Next, with Benjamin and the GI team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8A6FF"/>
                </a:solidFill>
                <a:latin typeface="Arial"/>
              </a:rPr>
              <a:t>→  </a:t>
            </a:r>
            <a:r>
              <a:rPr sz="1450" b="0">
                <a:solidFill>
                  <a:srgbClr val="E6EDF3"/>
                </a:solidFill>
                <a:latin typeface="Arial"/>
              </a:rPr>
              <a:t>What the Genomic Intelligence models are and where they fit.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8A6FF"/>
                </a:solidFill>
                <a:latin typeface="Arial"/>
              </a:rPr>
              <a:t>→  </a:t>
            </a:r>
            <a:r>
              <a:rPr sz="1450" b="0">
                <a:solidFill>
                  <a:srgbClr val="E6EDF3"/>
                </a:solidFill>
                <a:latin typeface="Arial"/>
              </a:rPr>
              <a:t>Live scenarios: GI skills running inside ClawBio on real bio problems.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8A6FF"/>
                </a:solidFill>
                <a:latin typeface="Arial"/>
              </a:rPr>
              <a:t>→  </a:t>
            </a:r>
            <a:r>
              <a:rPr sz="1450" b="0">
                <a:solidFill>
                  <a:srgbClr val="E6EDF3"/>
                </a:solidFill>
                <a:latin typeface="Arial"/>
              </a:rPr>
              <a:t>Follow along in Codex; prompts and links will be in the chat.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920240"/>
            <a:ext cx="52120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56D364"/>
                </a:solidFill>
                <a:latin typeface="Arial"/>
              </a:rPr>
              <a:t>Try it yourself, now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8A6FF"/>
                </a:solidFill>
                <a:latin typeface="Arial"/>
              </a:rPr>
              <a:t>→  </a:t>
            </a:r>
            <a:r>
              <a:rPr sz="1450" b="0">
                <a:solidFill>
                  <a:srgbClr val="E6EDF3"/>
                </a:solidFill>
                <a:latin typeface="Arial"/>
              </a:rPr>
              <a:t>Ask a real, openly published genome questions, live: every answer executed by a ClawBio skill.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8A6FF"/>
                </a:solidFill>
                <a:latin typeface="Arial"/>
              </a:rPr>
              <a:t>→  </a:t>
            </a:r>
            <a:r>
              <a:rPr sz="1450" b="0">
                <a:solidFill>
                  <a:srgbClr val="58A6FF"/>
                </a:solidFill>
                <a:latin typeface="Arial"/>
              </a:rPr>
              <a:t>conversational.clawbio.ai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8A6FF"/>
                </a:solidFill>
                <a:latin typeface="Arial"/>
              </a:rPr>
              <a:t>→  </a:t>
            </a:r>
            <a:r>
              <a:rPr sz="1450" b="0">
                <a:solidFill>
                  <a:srgbClr val="E6EDF3"/>
                </a:solidFill>
                <a:latin typeface="Arial"/>
              </a:rPr>
              <a:t>Star the repo: github.com/ClawBio/ClawBio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7286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Arial"/>
              </a:rPr>
              <a:t>The point of the demos: not “the agent can run it”, but </a:t>
            </a:r>
            <a:r>
              <a:rPr sz="1700" b="0">
                <a:solidFill>
                  <a:srgbClr val="56D364"/>
                </a:solidFill>
                <a:latin typeface="Arial"/>
              </a:rPr>
              <a:t>“you can trust what it ran”</a:t>
            </a:r>
            <a:r>
              <a:rPr sz="1700" b="0">
                <a:solidFill>
                  <a:srgbClr val="E6EDF3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55767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0D1117"/>
                </a:solidFill>
                <a:latin typeface="Arial"/>
              </a:rPr>
              <a:t>OUT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E6EDF3"/>
                </a:solidFill>
                <a:latin typeface="Arial"/>
              </a:rPr>
              <a:t>Build an Agentic Genomics System </a:t>
            </a:r>
            <a:r>
              <a:rPr sz="2600" b="1">
                <a:solidFill>
                  <a:srgbClr val="ADBAC7"/>
                </a:solidFill>
                <a:latin typeface="Arial"/>
              </a:rPr>
              <a:t>(From Scratch)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00200"/>
            <a:ext cx="96313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DBAC7"/>
                </a:solidFill>
                <a:latin typeface="Arial"/>
              </a:rPr>
              <a:t>A hands-on, build-it-yourself guide. You will not just read about agentic genomics, you will build it in your browser on a real, openly published genome with ClawBio.</a:t>
            </a:r>
          </a:p>
        </p:txBody>
      </p:sp>
      <p:pic>
        <p:nvPicPr>
          <p:cNvPr id="5" name="Picture 4" descr="book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269748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502920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3B341"/>
                </a:solidFill>
                <a:latin typeface="Arial"/>
              </a:rPr>
              <a:t>Scan to get the book</a:t>
            </a:r>
          </a:p>
          <a:p>
            <a:pPr algn="ctr"/>
            <a:r>
              <a:rPr sz="1150" b="0">
                <a:solidFill>
                  <a:srgbClr val="ADBAC7"/>
                </a:solidFill>
                <a:latin typeface="Arial"/>
              </a:rPr>
              <a:t>Paperback &amp; Kindle  ·  328 pages</a:t>
            </a:r>
          </a:p>
          <a:p>
            <a:pPr algn="ctr"/>
            <a:r>
              <a:rPr sz="1100" b="0">
                <a:solidFill>
                  <a:srgbClr val="58A6FF"/>
                </a:solidFill>
                <a:latin typeface="Arial"/>
              </a:rPr>
              <a:t>amazon.co.uk/dp/B0H6GN1ZVZ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880360"/>
            <a:ext cx="52120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E3B341"/>
                </a:solidFill>
                <a:latin typeface="Arial"/>
              </a:rPr>
              <a:t>What you will build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8A6FF"/>
                </a:solidFill>
                <a:latin typeface="Arial"/>
              </a:rPr>
              <a:t>→  </a:t>
            </a:r>
            <a:r>
              <a:rPr sz="1450" b="0">
                <a:solidFill>
                  <a:srgbClr val="E6EDF3"/>
                </a:solidFill>
                <a:latin typeface="Arial"/>
              </a:rPr>
              <a:t>Your first runnable skill, in minutes, no setup required.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8A6FF"/>
                </a:solidFill>
                <a:latin typeface="Arial"/>
              </a:rPr>
              <a:t>→  </a:t>
            </a:r>
            <a:r>
              <a:rPr sz="1450" b="0">
                <a:solidFill>
                  <a:srgbClr val="E6EDF3"/>
                </a:solidFill>
                <a:latin typeface="Arial"/>
              </a:rPr>
              <a:t>Agents that choose a method, run it, read the result, and notice when it is wrong.</a:t>
            </a: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58A6FF"/>
                </a:solidFill>
                <a:latin typeface="Arial"/>
              </a:rPr>
              <a:t>→  </a:t>
            </a:r>
            <a:r>
              <a:rPr sz="1450" b="0">
                <a:solidFill>
                  <a:srgbClr val="E6EDF3"/>
                </a:solidFill>
                <a:latin typeface="Arial"/>
              </a:rPr>
              <a:t>Validation and guardrails to keep them honest.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62041" y="411480"/>
            <a:ext cx="1467612" cy="3108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100" b="1">
                <a:solidFill>
                  <a:srgbClr val="0D1117"/>
                </a:solidFill>
                <a:latin typeface="Arial"/>
              </a:rPr>
              <a:t>KEEP IN TOUCH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6EDF3"/>
                </a:solidFill>
                <a:latin typeface="Arial"/>
              </a:rPr>
              <a:t>Join the </a:t>
            </a:r>
            <a:r>
              <a:rPr sz="2800" b="1">
                <a:solidFill>
                  <a:srgbClr val="56D364"/>
                </a:solidFill>
                <a:latin typeface="Arial"/>
              </a:rPr>
              <a:t>ClawBio</a:t>
            </a:r>
            <a:r>
              <a:rPr sz="2800" b="1">
                <a:solidFill>
                  <a:srgbClr val="E6EDF3"/>
                </a:solidFill>
                <a:latin typeface="Arial"/>
              </a:rPr>
              <a:t> community</a:t>
            </a:r>
          </a:p>
        </p:txBody>
      </p:sp>
      <p:pic>
        <p:nvPicPr>
          <p:cNvPr id="4" name="Picture 3" descr="whatsapp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954" y="1828800"/>
            <a:ext cx="2027291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438912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6D364"/>
                </a:solidFill>
                <a:latin typeface="Arial"/>
              </a:rPr>
              <a:t>Join the WhatsApp group</a:t>
            </a:r>
          </a:p>
          <a:p>
            <a:pPr algn="ctr"/>
            <a:r>
              <a:rPr sz="1100" b="0">
                <a:solidFill>
                  <a:srgbClr val="6E7681"/>
                </a:solidFill>
                <a:latin typeface="Arial"/>
              </a:rPr>
              <a:t>Scan with the WhatsApp camera</a:t>
            </a:r>
          </a:p>
        </p:txBody>
      </p:sp>
      <p:pic>
        <p:nvPicPr>
          <p:cNvPr id="6" name="Picture 5" descr="luma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19" y="192024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416052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8A6FF"/>
                </a:solidFill>
                <a:latin typeface="Arial"/>
              </a:rPr>
              <a:t>Subscribe to events</a:t>
            </a:r>
          </a:p>
          <a:p>
            <a:pPr algn="ctr"/>
            <a:r>
              <a:rPr sz="1100" b="0">
                <a:solidFill>
                  <a:srgbClr val="6E7681"/>
                </a:solidFill>
                <a:latin typeface="Arial"/>
              </a:rPr>
              <a:t>Hackathons &amp; workshops</a:t>
            </a:r>
          </a:p>
          <a:p>
            <a:pPr algn="ctr"/>
            <a:r>
              <a:rPr sz="1100" b="0">
                <a:solidFill>
                  <a:srgbClr val="58A6FF"/>
                </a:solidFill>
                <a:latin typeface="Arial"/>
              </a:rPr>
              <a:t>luma.com/ClawBio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ADBAC7"/>
                </a:solidFill>
                <a:latin typeface="Arial"/>
              </a:rPr>
              <a:t>Try it live: conversational.clawbio.ai   ·   Build with us: github.com/ClawBio/ClawBio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989320"/>
            <a:ext cx="94484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E7681"/>
                </a:solidFill>
                <a:latin typeface="Arial"/>
              </a:rPr>
              <a:t>Open call: ship your own use case on the platform over the next two weeks. Best submissions win. The book and the pharmacogenomics preprint are linked on the previous slides.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